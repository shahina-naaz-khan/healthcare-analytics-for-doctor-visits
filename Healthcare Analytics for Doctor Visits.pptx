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5"/>
  </p:notesMasterIdLst>
  <p:handoutMasterIdLst>
    <p:handoutMasterId r:id="rId16"/>
  </p:handoutMasterIdLst>
  <p:sldIdLst>
    <p:sldId id="338" r:id="rId5"/>
    <p:sldId id="327" r:id="rId6"/>
    <p:sldId id="315" r:id="rId7"/>
    <p:sldId id="329" r:id="rId8"/>
    <p:sldId id="302" r:id="rId9"/>
    <p:sldId id="339" r:id="rId10"/>
    <p:sldId id="340" r:id="rId11"/>
    <p:sldId id="341" r:id="rId12"/>
    <p:sldId id="342" r:id="rId13"/>
    <p:sldId id="304"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hahina Naaz Khan" initials="SN" lastIdx="1" clrIdx="0">
    <p:extLst>
      <p:ext uri="{19B8F6BF-5375-455C-9EA6-DF929625EA0E}">
        <p15:presenceInfo xmlns:p15="http://schemas.microsoft.com/office/powerpoint/2012/main" userId="0280f89f13c433a8"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66" d="100"/>
          <a:sy n="66" d="100"/>
        </p:scale>
        <p:origin x="588" y="44"/>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10/7/2026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10/7/2026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10/7/2026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10/7/2026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10/7/2026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10/7/2026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10/7/2026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10/7/2026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10/7/2026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10/7/2026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10/7/2026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hyperlink" Target="https://github.com/Shahina-Naaz-Khan/Healthcare-Analytics-for-Doctor-Visits" TargetMode="External"/><Relationship Id="rId2" Type="http://schemas.openxmlformats.org/officeDocument/2006/relationships/image" Target="../media/image1.jfif"/><Relationship Id="rId1"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832352" y="4169630"/>
            <a:ext cx="6136337" cy="1408210"/>
          </a:xfrm>
        </p:spPr>
        <p:txBody>
          <a:bodyPr>
            <a:normAutofit/>
          </a:bodyPr>
          <a:lstStyle/>
          <a:p>
            <a:r>
              <a:rPr lang="en-US" sz="1800" dirty="0">
                <a:solidFill>
                  <a:schemeClr val="tx1"/>
                </a:solidFill>
              </a:rPr>
              <a:t>Shahina Naaz Khan</a:t>
            </a:r>
          </a:p>
          <a:p>
            <a:r>
              <a:rPr lang="en-US" sz="1800" dirty="0">
                <a:solidFill>
                  <a:schemeClr val="tx1"/>
                </a:solidFill>
              </a:rPr>
              <a:t>Amity University Jharkhand</a:t>
            </a:r>
          </a:p>
          <a:p>
            <a:r>
              <a:rPr lang="en-US" sz="1800" dirty="0">
                <a:solidFill>
                  <a:schemeClr val="tx1"/>
                </a:solidFill>
              </a:rPr>
              <a:t>AICTE STU ID : </a:t>
            </a:r>
            <a:r>
              <a:rPr lang="en-IN" sz="1800" dirty="0">
                <a:solidFill>
                  <a:schemeClr val="tx1"/>
                </a:solidFill>
              </a:rPr>
              <a:t>STU677e95adc89d41736349101</a:t>
            </a:r>
            <a:endParaRPr lang="en-US" sz="1800" dirty="0">
              <a:solidFill>
                <a:schemeClr val="tx1"/>
              </a:solidFill>
            </a:endParaRPr>
          </a:p>
          <a:p>
            <a:endParaRPr lang="en-US" b="0" dirty="0">
              <a:solidFill>
                <a:schemeClr val="tx1"/>
              </a:solidFill>
            </a:endParaRPr>
          </a:p>
          <a:p>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747560" y="2532102"/>
            <a:ext cx="9724726" cy="743448"/>
          </a:xfrm>
        </p:spPr>
        <p:txBody>
          <a:bodyPr>
            <a:noAutofit/>
          </a:bodyPr>
          <a:lstStyle/>
          <a:p>
            <a:r>
              <a:rPr lang="en-GB" sz="4000" b="1" dirty="0"/>
              <a:t>Healthcare Analytics for Doctor Visits TIRTC</a:t>
            </a:r>
            <a:endParaRPr lang="en-IN" sz="4000" b="1"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4" presetClass="entr" presetSubtype="10" fill="hold" grpId="0" nodeType="clickEffect">
                                  <p:stCondLst>
                                    <p:cond delay="0"/>
                                  </p:stCondLst>
                                  <p:childTnLst>
                                    <p:set>
                                      <p:cBhvr>
                                        <p:cTn id="41" dur="1" fill="hold">
                                          <p:stCondLst>
                                            <p:cond delay="0"/>
                                          </p:stCondLst>
                                        </p:cTn>
                                        <p:tgtEl>
                                          <p:spTgt spid="2">
                                            <p:txEl>
                                              <p:pRg st="2" end="2"/>
                                            </p:txEl>
                                          </p:spTgt>
                                        </p:tgtEl>
                                        <p:attrNameLst>
                                          <p:attrName>style.visibility</p:attrName>
                                        </p:attrNameLst>
                                      </p:cBhvr>
                                      <p:to>
                                        <p:strVal val="visible"/>
                                      </p:to>
                                    </p:set>
                                    <p:animEffect transition="in" filter="randombar(horizontal)">
                                      <p:cBhvr>
                                        <p:cTn id="42"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7421660" cy="4319687"/>
          </a:xfrm>
        </p:spPr>
        <p:txBody>
          <a:bodyPr>
            <a:normAutofit/>
          </a:bodyPr>
          <a:lstStyle/>
          <a:p>
            <a:pPr>
              <a:lnSpc>
                <a:spcPct val="150000"/>
              </a:lnSpc>
            </a:pPr>
            <a:r>
              <a:rPr lang="en-US" dirty="0"/>
              <a:t>Resource Allocation Imbalance : Unpredictable outpatient doctor visit volumes.</a:t>
            </a:r>
          </a:p>
          <a:p>
            <a:pPr>
              <a:lnSpc>
                <a:spcPct val="150000"/>
              </a:lnSpc>
            </a:pPr>
            <a:r>
              <a:rPr lang="en-US" dirty="0"/>
              <a:t>Demographic </a:t>
            </a:r>
            <a:r>
              <a:rPr lang="en-US" dirty="0" err="1"/>
              <a:t>Blindspots</a:t>
            </a:r>
            <a:r>
              <a:rPr lang="en-US" dirty="0"/>
              <a:t> : Unknown drivers across age, gender and illness.</a:t>
            </a:r>
          </a:p>
          <a:p>
            <a:pPr>
              <a:lnSpc>
                <a:spcPct val="150000"/>
              </a:lnSpc>
            </a:pPr>
            <a:r>
              <a:rPr lang="en-US" dirty="0"/>
              <a:t>Core Investigation : Identifying high-risk patient segments to optimize consultation workflows.</a:t>
            </a:r>
          </a:p>
          <a:p>
            <a:pPr>
              <a:lnSpc>
                <a:spcPct val="150000"/>
              </a:lnSpc>
            </a:pPr>
            <a:r>
              <a:rPr lang="en-US" dirty="0"/>
              <a:t>Objective: Data-driven clinical capacity planning.</a:t>
            </a:r>
            <a:endParaRPr lang="en-IN"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pic>
        <p:nvPicPr>
          <p:cNvPr id="10" name="Picture 9" descr="image.png">
            <a:extLst>
              <a:ext uri="{FF2B5EF4-FFF2-40B4-BE49-F238E27FC236}">
                <a16:creationId xmlns:a16="http://schemas.microsoft.com/office/drawing/2014/main" id="{2C4FC49F-1CD4-E4C8-A07B-2A3EBE4CD49D}"/>
              </a:ext>
            </a:extLst>
          </p:cNvPr>
          <p:cNvPicPr>
            <a:picLocks noChangeAspect="1"/>
          </p:cNvPicPr>
          <p:nvPr/>
        </p:nvPicPr>
        <p:blipFill>
          <a:blip r:embed="rId4"/>
          <a:stretch>
            <a:fillRect/>
          </a:stretch>
        </p:blipFill>
        <p:spPr>
          <a:xfrm>
            <a:off x="11729515" y="4449049"/>
            <a:ext cx="457200" cy="60960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462782" y="458704"/>
            <a:ext cx="6276109" cy="830997"/>
          </a:xfrm>
        </p:spPr>
        <p:txBody>
          <a:bodyPr>
            <a:normAutofit/>
          </a:bodyPr>
          <a:lstStyle/>
          <a:p>
            <a:r>
              <a:rPr lang="en-GB" dirty="0"/>
              <a:t>Project Description</a:t>
            </a: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3" name="Text Placeholder 1">
            <a:extLst>
              <a:ext uri="{FF2B5EF4-FFF2-40B4-BE49-F238E27FC236}">
                <a16:creationId xmlns:a16="http://schemas.microsoft.com/office/drawing/2014/main" id="{62948313-5104-C4BE-4233-B344EF5159A1}"/>
              </a:ext>
            </a:extLst>
          </p:cNvPr>
          <p:cNvSpPr>
            <a:spLocks noGrp="1"/>
          </p:cNvSpPr>
          <p:nvPr>
            <p:ph type="body" sz="quarter" idx="12"/>
          </p:nvPr>
        </p:nvSpPr>
        <p:spPr>
          <a:xfrm>
            <a:off x="760525" y="1626937"/>
            <a:ext cx="8180704" cy="5038023"/>
          </a:xfrm>
        </p:spPr>
        <p:txBody>
          <a:bodyPr>
            <a:normAutofit/>
          </a:bodyPr>
          <a:lstStyle/>
          <a:p>
            <a:pPr marL="0" indent="0">
              <a:lnSpc>
                <a:spcPct val="150000"/>
              </a:lnSpc>
              <a:buNone/>
            </a:pPr>
            <a:r>
              <a:rPr lang="en-IN" dirty="0"/>
              <a:t>This project performs exploratory data analysis (EDA) on a healthcare dataset of 5,190 patient records to understand what drives how frequently patients visit the doctor. The dataset includes 13 attributes covering demographics (age, gender), health indicators (illness score, chronic condition flags), income, and insurance type, with doctor visit count as the key outcome variable.</a:t>
            </a:r>
            <a:endParaRPr lang="en-US" dirty="0"/>
          </a:p>
          <a:p>
            <a:pPr>
              <a:lnSpc>
                <a:spcPct val="150000"/>
              </a:lnSpc>
            </a:pPr>
            <a:r>
              <a:rPr lang="en-US" dirty="0"/>
              <a:t>Data Ingestion : 5190 complete records processed.</a:t>
            </a:r>
          </a:p>
          <a:p>
            <a:pPr>
              <a:lnSpc>
                <a:spcPct val="150000"/>
              </a:lnSpc>
            </a:pPr>
            <a:r>
              <a:rPr lang="en-US" dirty="0"/>
              <a:t>EDA &amp; Profiling : Zero null value validation completed.</a:t>
            </a:r>
          </a:p>
          <a:p>
            <a:pPr>
              <a:lnSpc>
                <a:spcPct val="150000"/>
              </a:lnSpc>
            </a:pPr>
            <a:r>
              <a:rPr lang="en-US" dirty="0"/>
              <a:t>Clinical Action : Targeted primary care resource planning.  </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3">
                                            <p:txEl>
                                              <p:pRg st="0" end="0"/>
                                            </p:txEl>
                                          </p:spTgt>
                                        </p:tgtEl>
                                        <p:attrNameLst>
                                          <p:attrName>style.visibility</p:attrName>
                                        </p:attrNameLst>
                                      </p:cBhvr>
                                      <p:to>
                                        <p:strVal val="visible"/>
                                      </p:to>
                                    </p:set>
                                    <p:animEffect transition="in" filter="fade">
                                      <p:cBhvr>
                                        <p:cTn id="14" dur="1000"/>
                                        <p:tgtEl>
                                          <p:spTgt spid="23">
                                            <p:txEl>
                                              <p:pRg st="0" end="0"/>
                                            </p:txEl>
                                          </p:spTgt>
                                        </p:tgtEl>
                                      </p:cBhvr>
                                    </p:animEffect>
                                    <p:anim calcmode="lin" valueType="num">
                                      <p:cBhvr>
                                        <p:cTn id="15" dur="1000" fill="hold"/>
                                        <p:tgtEl>
                                          <p:spTgt spid="2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3">
                                            <p:txEl>
                                              <p:pRg st="1" end="1"/>
                                            </p:txEl>
                                          </p:spTgt>
                                        </p:tgtEl>
                                        <p:attrNameLst>
                                          <p:attrName>style.visibility</p:attrName>
                                        </p:attrNameLst>
                                      </p:cBhvr>
                                      <p:to>
                                        <p:strVal val="visible"/>
                                      </p:to>
                                    </p:set>
                                    <p:animEffect transition="in" filter="fade">
                                      <p:cBhvr>
                                        <p:cTn id="21" dur="1000"/>
                                        <p:tgtEl>
                                          <p:spTgt spid="23">
                                            <p:txEl>
                                              <p:pRg st="1" end="1"/>
                                            </p:txEl>
                                          </p:spTgt>
                                        </p:tgtEl>
                                      </p:cBhvr>
                                    </p:animEffect>
                                    <p:anim calcmode="lin" valueType="num">
                                      <p:cBhvr>
                                        <p:cTn id="22" dur="1000" fill="hold"/>
                                        <p:tgtEl>
                                          <p:spTgt spid="23">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3">
                                            <p:txEl>
                                              <p:pRg st="2" end="2"/>
                                            </p:txEl>
                                          </p:spTgt>
                                        </p:tgtEl>
                                        <p:attrNameLst>
                                          <p:attrName>style.visibility</p:attrName>
                                        </p:attrNameLst>
                                      </p:cBhvr>
                                      <p:to>
                                        <p:strVal val="visible"/>
                                      </p:to>
                                    </p:set>
                                    <p:animEffect transition="in" filter="fade">
                                      <p:cBhvr>
                                        <p:cTn id="28" dur="1000"/>
                                        <p:tgtEl>
                                          <p:spTgt spid="23">
                                            <p:txEl>
                                              <p:pRg st="2" end="2"/>
                                            </p:txEl>
                                          </p:spTgt>
                                        </p:tgtEl>
                                      </p:cBhvr>
                                    </p:animEffect>
                                    <p:anim calcmode="lin" valueType="num">
                                      <p:cBhvr>
                                        <p:cTn id="29" dur="1000" fill="hold"/>
                                        <p:tgtEl>
                                          <p:spTgt spid="23">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3">
                                            <p:txEl>
                                              <p:pRg st="3" end="3"/>
                                            </p:txEl>
                                          </p:spTgt>
                                        </p:tgtEl>
                                        <p:attrNameLst>
                                          <p:attrName>style.visibility</p:attrName>
                                        </p:attrNameLst>
                                      </p:cBhvr>
                                      <p:to>
                                        <p:strVal val="visible"/>
                                      </p:to>
                                    </p:set>
                                    <p:animEffect transition="in" filter="fade">
                                      <p:cBhvr>
                                        <p:cTn id="35" dur="1000"/>
                                        <p:tgtEl>
                                          <p:spTgt spid="23">
                                            <p:txEl>
                                              <p:pRg st="3" end="3"/>
                                            </p:txEl>
                                          </p:spTgt>
                                        </p:tgtEl>
                                      </p:cBhvr>
                                    </p:animEffect>
                                    <p:anim calcmode="lin" valueType="num">
                                      <p:cBhvr>
                                        <p:cTn id="36" dur="1000" fill="hold"/>
                                        <p:tgtEl>
                                          <p:spTgt spid="23">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9018542" cy="3990023"/>
          </a:xfrm>
        </p:spPr>
        <p:txBody>
          <a:bodyPr>
            <a:noAutofit/>
          </a:bodyPr>
          <a:lstStyle/>
          <a:p>
            <a:pPr algn="just">
              <a:lnSpc>
                <a:spcPct val="150000"/>
              </a:lnSpc>
            </a:pPr>
            <a:r>
              <a:rPr lang="en-US" sz="2400" dirty="0"/>
              <a:t>Hospital Administrators : Staff scheduling and clinic resource planning</a:t>
            </a:r>
          </a:p>
          <a:p>
            <a:pPr algn="just">
              <a:lnSpc>
                <a:spcPct val="150000"/>
              </a:lnSpc>
            </a:pPr>
            <a:r>
              <a:rPr lang="en-US" sz="2400" dirty="0"/>
              <a:t>Doctors &amp; Clinicians : Preventive care tracking for chronic cases.</a:t>
            </a:r>
          </a:p>
          <a:p>
            <a:pPr algn="just">
              <a:lnSpc>
                <a:spcPct val="150000"/>
              </a:lnSpc>
            </a:pPr>
            <a:r>
              <a:rPr lang="en-US" sz="2400" dirty="0"/>
              <a:t>Health Policy Analysts : Subsidy allocation and insurance planning.</a:t>
            </a:r>
            <a:endParaRPr lang="en-IN" sz="24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a:lstStyle/>
          <a:p>
            <a:pPr lvl="1">
              <a:lnSpc>
                <a:spcPct val="150000"/>
              </a:lnSpc>
            </a:pPr>
            <a:r>
              <a:rPr lang="en-US" dirty="0"/>
              <a:t>Python 3 : Core Computational runtime.</a:t>
            </a:r>
          </a:p>
          <a:p>
            <a:pPr lvl="1">
              <a:lnSpc>
                <a:spcPct val="150000"/>
              </a:lnSpc>
            </a:pPr>
            <a:r>
              <a:rPr lang="en-US" dirty="0"/>
              <a:t>Pandas &amp; NumPy : Data wrangling and profiling.</a:t>
            </a:r>
          </a:p>
          <a:p>
            <a:pPr lvl="1">
              <a:lnSpc>
                <a:spcPct val="150000"/>
              </a:lnSpc>
            </a:pPr>
            <a:r>
              <a:rPr lang="en-US" dirty="0"/>
              <a:t>Matplotlib &amp; Seaborn : Statistical charts and plots.</a:t>
            </a:r>
          </a:p>
          <a:p>
            <a:pPr lvl="1">
              <a:lnSpc>
                <a:spcPct val="150000"/>
              </a:lnSpc>
            </a:pPr>
            <a:r>
              <a:rPr lang="en-US" dirty="0"/>
              <a:t>Google </a:t>
            </a:r>
            <a:r>
              <a:rPr lang="en-US" dirty="0" err="1"/>
              <a:t>Colab</a:t>
            </a:r>
            <a:r>
              <a:rPr lang="en-US" dirty="0"/>
              <a:t> : Interactive execution notebook. </a:t>
            </a: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7">
                                            <p:txEl>
                                              <p:pRg st="1" end="1"/>
                                            </p:txEl>
                                          </p:spTgt>
                                        </p:tgtEl>
                                        <p:attrNameLst>
                                          <p:attrName>style.visibility</p:attrName>
                                        </p:attrNameLst>
                                      </p:cBhvr>
                                      <p:to>
                                        <p:strVal val="visible"/>
                                      </p:to>
                                    </p:set>
                                    <p:animEffect transition="in" filter="fade">
                                      <p:cBhvr>
                                        <p:cTn id="19" dur="1000"/>
                                        <p:tgtEl>
                                          <p:spTgt spid="7">
                                            <p:txEl>
                                              <p:pRg st="1" end="1"/>
                                            </p:txEl>
                                          </p:spTgt>
                                        </p:tgtEl>
                                      </p:cBhvr>
                                    </p:animEffect>
                                    <p:anim calcmode="lin" valueType="num">
                                      <p:cBhvr>
                                        <p:cTn id="20"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7">
                                            <p:txEl>
                                              <p:pRg st="1" end="1"/>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7">
                                            <p:txEl>
                                              <p:pRg st="2" end="2"/>
                                            </p:txEl>
                                          </p:spTgt>
                                        </p:tgtEl>
                                        <p:attrNameLst>
                                          <p:attrName>style.visibility</p:attrName>
                                        </p:attrNameLst>
                                      </p:cBhvr>
                                      <p:to>
                                        <p:strVal val="visible"/>
                                      </p:to>
                                    </p:set>
                                    <p:animEffect transition="in" filter="fade">
                                      <p:cBhvr>
                                        <p:cTn id="24" dur="1000"/>
                                        <p:tgtEl>
                                          <p:spTgt spid="7">
                                            <p:txEl>
                                              <p:pRg st="2" end="2"/>
                                            </p:txEl>
                                          </p:spTgt>
                                        </p:tgtEl>
                                      </p:cBhvr>
                                    </p:animEffect>
                                    <p:anim calcmode="lin" valueType="num">
                                      <p:cBhvr>
                                        <p:cTn id="2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7">
                                            <p:txEl>
                                              <p:pRg st="2" end="2"/>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7">
                                            <p:txEl>
                                              <p:pRg st="3" end="3"/>
                                            </p:txEl>
                                          </p:spTgt>
                                        </p:tgtEl>
                                        <p:attrNameLst>
                                          <p:attrName>style.visibility</p:attrName>
                                        </p:attrNameLst>
                                      </p:cBhvr>
                                      <p:to>
                                        <p:strVal val="visible"/>
                                      </p:to>
                                    </p:set>
                                    <p:animEffect transition="in" filter="fade">
                                      <p:cBhvr>
                                        <p:cTn id="29" dur="1000"/>
                                        <p:tgtEl>
                                          <p:spTgt spid="7">
                                            <p:txEl>
                                              <p:pRg st="3" end="3"/>
                                            </p:txEl>
                                          </p:spTgt>
                                        </p:tgtEl>
                                      </p:cBhvr>
                                    </p:animEffect>
                                    <p:anim calcmode="lin" valueType="num">
                                      <p:cBhvr>
                                        <p:cTn id="30"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1"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1" name="Picture 10">
            <a:extLst>
              <a:ext uri="{FF2B5EF4-FFF2-40B4-BE49-F238E27FC236}">
                <a16:creationId xmlns:a16="http://schemas.microsoft.com/office/drawing/2014/main" id="{95C6E4AD-FAB2-0AE2-D103-21D0D94CAA1B}"/>
              </a:ext>
            </a:extLst>
          </p:cNvPr>
          <p:cNvPicPr>
            <a:picLocks noChangeAspect="1"/>
          </p:cNvPicPr>
          <p:nvPr/>
        </p:nvPicPr>
        <p:blipFill>
          <a:blip r:embed="rId3"/>
          <a:stretch>
            <a:fillRect/>
          </a:stretch>
        </p:blipFill>
        <p:spPr>
          <a:xfrm>
            <a:off x="182232" y="1201586"/>
            <a:ext cx="6064564" cy="4048786"/>
          </a:xfrm>
          <a:prstGeom prst="rect">
            <a:avLst/>
          </a:prstGeom>
        </p:spPr>
      </p:pic>
      <p:sp>
        <p:nvSpPr>
          <p:cNvPr id="16" name="TextBox 15">
            <a:extLst>
              <a:ext uri="{FF2B5EF4-FFF2-40B4-BE49-F238E27FC236}">
                <a16:creationId xmlns:a16="http://schemas.microsoft.com/office/drawing/2014/main" id="{F8A8C5DB-B47B-89E7-B55C-AA27DD3F9CF8}"/>
              </a:ext>
            </a:extLst>
          </p:cNvPr>
          <p:cNvSpPr txBox="1"/>
          <p:nvPr/>
        </p:nvSpPr>
        <p:spPr>
          <a:xfrm>
            <a:off x="764884" y="5287082"/>
            <a:ext cx="4899259" cy="1200329"/>
          </a:xfrm>
          <a:prstGeom prst="rect">
            <a:avLst/>
          </a:prstGeom>
          <a:noFill/>
        </p:spPr>
        <p:txBody>
          <a:bodyPr wrap="square" rtlCol="0">
            <a:spAutoFit/>
          </a:bodyPr>
          <a:lstStyle/>
          <a:p>
            <a:r>
              <a:rPr lang="en-US" dirty="0"/>
              <a:t>The graph shows the distribution of patient’s </a:t>
            </a:r>
          </a:p>
          <a:p>
            <a:r>
              <a:rPr lang="en-US" dirty="0"/>
              <a:t>Age that visits doctor. The overlaid density curve on histogram shows that younger age people often visits doctor.</a:t>
            </a:r>
            <a:endParaRPr lang="en-IN" dirty="0"/>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1000"/>
                                        <p:tgtEl>
                                          <p:spTgt spid="11"/>
                                        </p:tgtEl>
                                      </p:cBhvr>
                                    </p:animEffect>
                                    <p:anim calcmode="lin" valueType="num">
                                      <p:cBhvr>
                                        <p:cTn id="29" dur="1000" fill="hold"/>
                                        <p:tgtEl>
                                          <p:spTgt spid="11"/>
                                        </p:tgtEl>
                                        <p:attrNameLst>
                                          <p:attrName>ppt_x</p:attrName>
                                        </p:attrNameLst>
                                      </p:cBhvr>
                                      <p:tavLst>
                                        <p:tav tm="0">
                                          <p:val>
                                            <p:strVal val="#ppt_x"/>
                                          </p:val>
                                        </p:tav>
                                        <p:tav tm="100000">
                                          <p:val>
                                            <p:strVal val="#ppt_x"/>
                                          </p:val>
                                        </p:tav>
                                      </p:tavLst>
                                    </p:anim>
                                    <p:anim calcmode="lin" valueType="num">
                                      <p:cBhvr>
                                        <p:cTn id="30"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1000"/>
                                        <p:tgtEl>
                                          <p:spTgt spid="16"/>
                                        </p:tgtEl>
                                      </p:cBhvr>
                                    </p:animEffect>
                                    <p:anim calcmode="lin" valueType="num">
                                      <p:cBhvr>
                                        <p:cTn id="36" dur="1000" fill="hold"/>
                                        <p:tgtEl>
                                          <p:spTgt spid="16"/>
                                        </p:tgtEl>
                                        <p:attrNameLst>
                                          <p:attrName>ppt_x</p:attrName>
                                        </p:attrNameLst>
                                      </p:cBhvr>
                                      <p:tavLst>
                                        <p:tav tm="0">
                                          <p:val>
                                            <p:strVal val="#ppt_x"/>
                                          </p:val>
                                        </p:tav>
                                        <p:tav tm="100000">
                                          <p:val>
                                            <p:strVal val="#ppt_x"/>
                                          </p:val>
                                        </p:tav>
                                      </p:tavLst>
                                    </p:anim>
                                    <p:anim calcmode="lin" valueType="num">
                                      <p:cBhvr>
                                        <p:cTn id="37"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00A5C1-7438-0BDE-AE05-7F3926B53D3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0D07349-446F-5302-BEDE-3F6BC21782FC}"/>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FE690315-F086-04D6-9929-B8A138862CBD}"/>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678285B0-7D1F-2668-CC3E-12B3D9780D47}"/>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5E22374C-1724-6FA5-2659-41FC03784EE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3" name="Picture 12">
            <a:extLst>
              <a:ext uri="{FF2B5EF4-FFF2-40B4-BE49-F238E27FC236}">
                <a16:creationId xmlns:a16="http://schemas.microsoft.com/office/drawing/2014/main" id="{33D1DCC3-279C-2410-E24E-3D84AFDE0F1F}"/>
              </a:ext>
            </a:extLst>
          </p:cNvPr>
          <p:cNvPicPr>
            <a:picLocks noChangeAspect="1"/>
          </p:cNvPicPr>
          <p:nvPr/>
        </p:nvPicPr>
        <p:blipFill>
          <a:blip r:embed="rId3"/>
          <a:stretch>
            <a:fillRect/>
          </a:stretch>
        </p:blipFill>
        <p:spPr>
          <a:xfrm>
            <a:off x="320982" y="1348736"/>
            <a:ext cx="5184658" cy="4160528"/>
          </a:xfrm>
          <a:prstGeom prst="rect">
            <a:avLst/>
          </a:prstGeom>
        </p:spPr>
      </p:pic>
      <p:sp>
        <p:nvSpPr>
          <p:cNvPr id="2" name="TextBox 1">
            <a:extLst>
              <a:ext uri="{FF2B5EF4-FFF2-40B4-BE49-F238E27FC236}">
                <a16:creationId xmlns:a16="http://schemas.microsoft.com/office/drawing/2014/main" id="{5DDDCACB-AB67-5442-4F7E-1D3DCF22521C}"/>
              </a:ext>
            </a:extLst>
          </p:cNvPr>
          <p:cNvSpPr txBox="1"/>
          <p:nvPr/>
        </p:nvSpPr>
        <p:spPr>
          <a:xfrm>
            <a:off x="752959" y="5548590"/>
            <a:ext cx="5474586" cy="923330"/>
          </a:xfrm>
          <a:prstGeom prst="rect">
            <a:avLst/>
          </a:prstGeom>
          <a:noFill/>
        </p:spPr>
        <p:txBody>
          <a:bodyPr wrap="square" rtlCol="0">
            <a:spAutoFit/>
          </a:bodyPr>
          <a:lstStyle/>
          <a:p>
            <a:r>
              <a:rPr lang="en-US" dirty="0"/>
              <a:t>The graph shows Illness score vs doctor visit. </a:t>
            </a:r>
          </a:p>
          <a:p>
            <a:r>
              <a:rPr lang="en-US" dirty="0"/>
              <a:t>Here, we can see that as the illness score increases </a:t>
            </a:r>
          </a:p>
          <a:p>
            <a:r>
              <a:rPr lang="en-US" dirty="0"/>
              <a:t>the doctor visits also increases.</a:t>
            </a:r>
            <a:endParaRPr lang="en-IN" dirty="0"/>
          </a:p>
        </p:txBody>
      </p:sp>
    </p:spTree>
    <p:extLst>
      <p:ext uri="{BB962C8B-B14F-4D97-AF65-F5344CB8AC3E}">
        <p14:creationId xmlns:p14="http://schemas.microsoft.com/office/powerpoint/2010/main" val="7244205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1000"/>
                                        <p:tgtEl>
                                          <p:spTgt spid="13"/>
                                        </p:tgtEl>
                                      </p:cBhvr>
                                    </p:animEffect>
                                    <p:anim calcmode="lin" valueType="num">
                                      <p:cBhvr>
                                        <p:cTn id="29" dur="1000" fill="hold"/>
                                        <p:tgtEl>
                                          <p:spTgt spid="13"/>
                                        </p:tgtEl>
                                        <p:attrNameLst>
                                          <p:attrName>ppt_x</p:attrName>
                                        </p:attrNameLst>
                                      </p:cBhvr>
                                      <p:tavLst>
                                        <p:tav tm="0">
                                          <p:val>
                                            <p:strVal val="#ppt_x"/>
                                          </p:val>
                                        </p:tav>
                                        <p:tav tm="100000">
                                          <p:val>
                                            <p:strVal val="#ppt_x"/>
                                          </p:val>
                                        </p:tav>
                                      </p:tavLst>
                                    </p:anim>
                                    <p:anim calcmode="lin" valueType="num">
                                      <p:cBhvr>
                                        <p:cTn id="30"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gtEl>
                                        <p:attrNameLst>
                                          <p:attrName>style.visibility</p:attrName>
                                        </p:attrNameLst>
                                      </p:cBhvr>
                                      <p:to>
                                        <p:strVal val="visible"/>
                                      </p:to>
                                    </p:set>
                                    <p:animEffect transition="in" filter="fade">
                                      <p:cBhvr>
                                        <p:cTn id="35" dur="1000"/>
                                        <p:tgtEl>
                                          <p:spTgt spid="2"/>
                                        </p:tgtEl>
                                      </p:cBhvr>
                                    </p:animEffect>
                                    <p:anim calcmode="lin" valueType="num">
                                      <p:cBhvr>
                                        <p:cTn id="36" dur="1000" fill="hold"/>
                                        <p:tgtEl>
                                          <p:spTgt spid="2"/>
                                        </p:tgtEl>
                                        <p:attrNameLst>
                                          <p:attrName>ppt_x</p:attrName>
                                        </p:attrNameLst>
                                      </p:cBhvr>
                                      <p:tavLst>
                                        <p:tav tm="0">
                                          <p:val>
                                            <p:strVal val="#ppt_x"/>
                                          </p:val>
                                        </p:tav>
                                        <p:tav tm="100000">
                                          <p:val>
                                            <p:strVal val="#ppt_x"/>
                                          </p:val>
                                        </p:tav>
                                      </p:tavLst>
                                    </p:anim>
                                    <p:anim calcmode="lin" valueType="num">
                                      <p:cBhvr>
                                        <p:cTn id="37"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E8F09D-3E9B-1B97-7D59-502A8655FD82}"/>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B1601AD-CC19-3E31-0890-875E458ECB2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8A78FC24-3C6D-B728-7D68-1E247AB7D979}"/>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FFEF6378-A31E-83AC-6DB5-BC2EE57E58AA}"/>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AA9718A3-9AE7-079C-0209-15D74F53C4B2}"/>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5" name="Picture 14">
            <a:extLst>
              <a:ext uri="{FF2B5EF4-FFF2-40B4-BE49-F238E27FC236}">
                <a16:creationId xmlns:a16="http://schemas.microsoft.com/office/drawing/2014/main" id="{87BA563F-45FC-7CED-088F-2A39AF432193}"/>
              </a:ext>
            </a:extLst>
          </p:cNvPr>
          <p:cNvPicPr>
            <a:picLocks noChangeAspect="1"/>
          </p:cNvPicPr>
          <p:nvPr/>
        </p:nvPicPr>
        <p:blipFill>
          <a:blip r:embed="rId3"/>
          <a:stretch>
            <a:fillRect/>
          </a:stretch>
        </p:blipFill>
        <p:spPr>
          <a:xfrm>
            <a:off x="444528" y="1328781"/>
            <a:ext cx="6232445" cy="4092614"/>
          </a:xfrm>
          <a:prstGeom prst="rect">
            <a:avLst/>
          </a:prstGeom>
        </p:spPr>
      </p:pic>
      <p:sp>
        <p:nvSpPr>
          <p:cNvPr id="2" name="TextBox 1">
            <a:extLst>
              <a:ext uri="{FF2B5EF4-FFF2-40B4-BE49-F238E27FC236}">
                <a16:creationId xmlns:a16="http://schemas.microsoft.com/office/drawing/2014/main" id="{66777AB6-CEE0-2441-23B3-2D0C9E32CB2A}"/>
              </a:ext>
            </a:extLst>
          </p:cNvPr>
          <p:cNvSpPr txBox="1"/>
          <p:nvPr/>
        </p:nvSpPr>
        <p:spPr>
          <a:xfrm>
            <a:off x="946484" y="5421395"/>
            <a:ext cx="5149516" cy="923330"/>
          </a:xfrm>
          <a:prstGeom prst="rect">
            <a:avLst/>
          </a:prstGeom>
          <a:noFill/>
        </p:spPr>
        <p:txBody>
          <a:bodyPr wrap="square" rtlCol="0">
            <a:spAutoFit/>
          </a:bodyPr>
          <a:lstStyle/>
          <a:p>
            <a:r>
              <a:rPr lang="en-US" dirty="0"/>
              <a:t>The graph shows a scatter plot of which gender they belong, the age the belong, and the doctor visit they made.</a:t>
            </a:r>
            <a:endParaRPr lang="en-IN" dirty="0"/>
          </a:p>
        </p:txBody>
      </p:sp>
    </p:spTree>
    <p:extLst>
      <p:ext uri="{BB962C8B-B14F-4D97-AF65-F5344CB8AC3E}">
        <p14:creationId xmlns:p14="http://schemas.microsoft.com/office/powerpoint/2010/main" val="688643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1000"/>
                                        <p:tgtEl>
                                          <p:spTgt spid="15"/>
                                        </p:tgtEl>
                                      </p:cBhvr>
                                    </p:animEffect>
                                    <p:anim calcmode="lin" valueType="num">
                                      <p:cBhvr>
                                        <p:cTn id="29" dur="1000" fill="hold"/>
                                        <p:tgtEl>
                                          <p:spTgt spid="15"/>
                                        </p:tgtEl>
                                        <p:attrNameLst>
                                          <p:attrName>ppt_x</p:attrName>
                                        </p:attrNameLst>
                                      </p:cBhvr>
                                      <p:tavLst>
                                        <p:tav tm="0">
                                          <p:val>
                                            <p:strVal val="#ppt_x"/>
                                          </p:val>
                                        </p:tav>
                                        <p:tav tm="100000">
                                          <p:val>
                                            <p:strVal val="#ppt_x"/>
                                          </p:val>
                                        </p:tav>
                                      </p:tavLst>
                                    </p:anim>
                                    <p:anim calcmode="lin" valueType="num">
                                      <p:cBhvr>
                                        <p:cTn id="30"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gtEl>
                                        <p:attrNameLst>
                                          <p:attrName>style.visibility</p:attrName>
                                        </p:attrNameLst>
                                      </p:cBhvr>
                                      <p:to>
                                        <p:strVal val="visible"/>
                                      </p:to>
                                    </p:set>
                                    <p:animEffect transition="in" filter="fade">
                                      <p:cBhvr>
                                        <p:cTn id="35" dur="1000"/>
                                        <p:tgtEl>
                                          <p:spTgt spid="2"/>
                                        </p:tgtEl>
                                      </p:cBhvr>
                                    </p:animEffect>
                                    <p:anim calcmode="lin" valueType="num">
                                      <p:cBhvr>
                                        <p:cTn id="36" dur="1000" fill="hold"/>
                                        <p:tgtEl>
                                          <p:spTgt spid="2"/>
                                        </p:tgtEl>
                                        <p:attrNameLst>
                                          <p:attrName>ppt_x</p:attrName>
                                        </p:attrNameLst>
                                      </p:cBhvr>
                                      <p:tavLst>
                                        <p:tav tm="0">
                                          <p:val>
                                            <p:strVal val="#ppt_x"/>
                                          </p:val>
                                        </p:tav>
                                        <p:tav tm="100000">
                                          <p:val>
                                            <p:strVal val="#ppt_x"/>
                                          </p:val>
                                        </p:tav>
                                      </p:tavLst>
                                    </p:anim>
                                    <p:anim calcmode="lin" valueType="num">
                                      <p:cBhvr>
                                        <p:cTn id="37"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971A13-0CCA-1DE6-B710-0D16A3E1D82B}"/>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8449F8F0-C1E1-AC73-EB02-32FE4CAFD79F}"/>
              </a:ext>
            </a:extLst>
          </p:cNvPr>
          <p:cNvSpPr>
            <a:spLocks noGrp="1"/>
          </p:cNvSpPr>
          <p:nvPr>
            <p:ph type="title"/>
          </p:nvPr>
        </p:nvSpPr>
        <p:spPr>
          <a:xfrm>
            <a:off x="675957" y="567517"/>
            <a:ext cx="11340000" cy="700114"/>
          </a:xfrm>
          <a:prstGeom prst="rect">
            <a:avLst/>
          </a:prstGeom>
        </p:spPr>
        <p:txBody>
          <a:bodyPr anchor="ctr">
            <a:normAutofit fontScale="90000"/>
          </a:bodyPr>
          <a:lstStyle/>
          <a:p>
            <a:r>
              <a:rPr lang="en-US" sz="4800" b="1" dirty="0" err="1">
                <a:solidFill>
                  <a:schemeClr val="tx1"/>
                </a:solidFill>
              </a:rPr>
              <a:t>Github</a:t>
            </a:r>
            <a:r>
              <a:rPr lang="en-US" sz="4800" b="1" dirty="0">
                <a:solidFill>
                  <a:schemeClr val="tx1"/>
                </a:solidFill>
              </a:rPr>
              <a:t> Link</a:t>
            </a:r>
          </a:p>
        </p:txBody>
      </p:sp>
      <p:sp>
        <p:nvSpPr>
          <p:cNvPr id="31" name="Text Placeholder 30">
            <a:extLst>
              <a:ext uri="{FF2B5EF4-FFF2-40B4-BE49-F238E27FC236}">
                <a16:creationId xmlns:a16="http://schemas.microsoft.com/office/drawing/2014/main" id="{BD525F95-70C4-6CB0-E12F-EAFC2A404387}"/>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823A429-05A1-55AD-6752-D82AA686879E}"/>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89889436-7F49-9981-2948-D13459267C2C}"/>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5CE22A5D-276E-7DA4-8BD6-E05AE8943416}"/>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C0A3FF34-2B89-B72A-D4A9-823094D9F8D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A949CD00-BAB2-44FA-20CA-753E498F8739}"/>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7C2DE916-AAF7-7E96-5CD3-2203DACB306D}"/>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extBox 3">
            <a:extLst>
              <a:ext uri="{FF2B5EF4-FFF2-40B4-BE49-F238E27FC236}">
                <a16:creationId xmlns:a16="http://schemas.microsoft.com/office/drawing/2014/main" id="{FB0ED37A-153B-1D91-79C7-D2805A960105}"/>
              </a:ext>
            </a:extLst>
          </p:cNvPr>
          <p:cNvSpPr txBox="1"/>
          <p:nvPr/>
        </p:nvSpPr>
        <p:spPr>
          <a:xfrm>
            <a:off x="1441383" y="2559298"/>
            <a:ext cx="6097604" cy="923330"/>
          </a:xfrm>
          <a:prstGeom prst="rect">
            <a:avLst/>
          </a:prstGeom>
          <a:noFill/>
        </p:spPr>
        <p:txBody>
          <a:bodyPr wrap="square">
            <a:spAutoFit/>
          </a:bodyPr>
          <a:lstStyle/>
          <a:p>
            <a:r>
              <a:rPr lang="en-IN" dirty="0">
                <a:hlinkClick r:id="rId3"/>
              </a:rPr>
              <a:t>https://github.com/Shahina-Naaz-Khan/Healthcare-Analytics-for-Doctor-Visits</a:t>
            </a:r>
            <a:endParaRPr lang="en-IN" dirty="0"/>
          </a:p>
          <a:p>
            <a:endParaRPr lang="en-IN" dirty="0"/>
          </a:p>
        </p:txBody>
      </p:sp>
    </p:spTree>
    <p:extLst>
      <p:ext uri="{BB962C8B-B14F-4D97-AF65-F5344CB8AC3E}">
        <p14:creationId xmlns:p14="http://schemas.microsoft.com/office/powerpoint/2010/main" val="23466948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par>
                    <p:cTn id="46" fill="hold">
                      <p:stCondLst>
                        <p:cond delay="indefinite"/>
                      </p:stCondLst>
                      <p:childTnLst>
                        <p:par>
                          <p:cTn id="47" fill="hold">
                            <p:stCondLst>
                              <p:cond delay="0"/>
                            </p:stCondLst>
                            <p:childTnLst>
                              <p:par>
                                <p:cTn id="48" presetID="42" presetClass="entr" presetSubtype="0" fill="hold" grpId="0" nodeType="clickEffect">
                                  <p:stCondLst>
                                    <p:cond delay="0"/>
                                  </p:stCondLst>
                                  <p:childTnLst>
                                    <p:set>
                                      <p:cBhvr>
                                        <p:cTn id="49" dur="1" fill="hold">
                                          <p:stCondLst>
                                            <p:cond delay="0"/>
                                          </p:stCondLst>
                                        </p:cTn>
                                        <p:tgtEl>
                                          <p:spTgt spid="4"/>
                                        </p:tgtEl>
                                        <p:attrNameLst>
                                          <p:attrName>style.visibility</p:attrName>
                                        </p:attrNameLst>
                                      </p:cBhvr>
                                      <p:to>
                                        <p:strVal val="visible"/>
                                      </p:to>
                                    </p:set>
                                    <p:animEffect transition="in" filter="fade">
                                      <p:cBhvr>
                                        <p:cTn id="50" dur="1000"/>
                                        <p:tgtEl>
                                          <p:spTgt spid="4"/>
                                        </p:tgtEl>
                                      </p:cBhvr>
                                    </p:animEffect>
                                    <p:anim calcmode="lin" valueType="num">
                                      <p:cBhvr>
                                        <p:cTn id="51" dur="1000" fill="hold"/>
                                        <p:tgtEl>
                                          <p:spTgt spid="4"/>
                                        </p:tgtEl>
                                        <p:attrNameLst>
                                          <p:attrName>ppt_x</p:attrName>
                                        </p:attrNameLst>
                                      </p:cBhvr>
                                      <p:tavLst>
                                        <p:tav tm="0">
                                          <p:val>
                                            <p:strVal val="#ppt_x"/>
                                          </p:val>
                                        </p:tav>
                                        <p:tav tm="100000">
                                          <p:val>
                                            <p:strVal val="#ppt_x"/>
                                          </p:val>
                                        </p:tav>
                                      </p:tavLst>
                                    </p:anim>
                                    <p:anim calcmode="lin" valueType="num">
                                      <p:cBhvr>
                                        <p:cTn id="52"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203267" y="1866018"/>
            <a:ext cx="11340000" cy="700114"/>
          </a:xfrm>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nodePh="1">
                                  <p:stCondLst>
                                    <p:cond delay="0"/>
                                  </p:stCondLst>
                                  <p:endCondLst>
                                    <p:cond evt="begin" delay="0">
                                      <p:tn val="10"/>
                                    </p:cond>
                                  </p:endCondLst>
                                  <p:childTnLst>
                                    <p:set>
                                      <p:cBhvr>
                                        <p:cTn id="11" dur="1" fill="hold">
                                          <p:stCondLst>
                                            <p:cond delay="0"/>
                                          </p:stCondLst>
                                        </p:cTn>
                                        <p:tgtEl>
                                          <p:spTgt spid="17"/>
                                        </p:tgtEl>
                                        <p:attrNameLst>
                                          <p:attrName>style.visibility</p:attrName>
                                        </p:attrNameLst>
                                      </p:cBhvr>
                                      <p:to>
                                        <p:strVal val="visible"/>
                                      </p:to>
                                    </p:set>
                                    <p:anim calcmode="lin" valueType="num">
                                      <p:cBhvr additive="base">
                                        <p:cTn id="12" dur="500"/>
                                        <p:tgtEl>
                                          <p:spTgt spid="17"/>
                                        </p:tgtEl>
                                        <p:attrNameLst>
                                          <p:attrName>ppt_y</p:attrName>
                                        </p:attrNameLst>
                                      </p:cBhvr>
                                      <p:tavLst>
                                        <p:tav tm="0">
                                          <p:val>
                                            <p:strVal val="#ppt_y+#ppt_h*1.125000"/>
                                          </p:val>
                                        </p:tav>
                                        <p:tav tm="100000">
                                          <p:val>
                                            <p:strVal val="#ppt_y"/>
                                          </p:val>
                                        </p:tav>
                                      </p:tavLst>
                                    </p:anim>
                                    <p:animEffect transition="in" filter="wipe(up)">
                                      <p:cBhvr>
                                        <p:cTn id="13" dur="500"/>
                                        <p:tgtEl>
                                          <p:spTgt spid="17"/>
                                        </p:tgtEl>
                                      </p:cBhvr>
                                    </p:animEffect>
                                  </p:childTnLst>
                                </p:cTn>
                              </p:par>
                            </p:childTnLst>
                          </p:cTn>
                        </p:par>
                      </p:childTnLst>
                    </p:cTn>
                  </p:par>
                  <p:par>
                    <p:cTn id="14" fill="hold">
                      <p:stCondLst>
                        <p:cond delay="indefinite"/>
                      </p:stCondLst>
                      <p:childTnLst>
                        <p:par>
                          <p:cTn id="15" fill="hold">
                            <p:stCondLst>
                              <p:cond delay="0"/>
                            </p:stCondLst>
                            <p:childTnLst>
                              <p:par>
                                <p:cTn id="16" presetID="12" presetClass="entr" presetSubtype="4" fill="hold" grpId="0" nodeType="clickEffect">
                                  <p:stCondLst>
                                    <p:cond delay="0"/>
                                  </p:stCondLst>
                                  <p:childTnLst>
                                    <p:set>
                                      <p:cBhvr>
                                        <p:cTn id="17" dur="1" fill="hold">
                                          <p:stCondLst>
                                            <p:cond delay="0"/>
                                          </p:stCondLst>
                                        </p:cTn>
                                        <p:tgtEl>
                                          <p:spTgt spid="31">
                                            <p:txEl>
                                              <p:pRg st="0" end="0"/>
                                            </p:txEl>
                                          </p:spTgt>
                                        </p:tgtEl>
                                        <p:attrNameLst>
                                          <p:attrName>style.visibility</p:attrName>
                                        </p:attrNameLst>
                                      </p:cBhvr>
                                      <p:to>
                                        <p:strVal val="visible"/>
                                      </p:to>
                                    </p:set>
                                    <p:anim calcmode="lin" valueType="num">
                                      <p:cBhvr additive="base">
                                        <p:cTn id="18"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19" dur="500"/>
                                        <p:tgtEl>
                                          <p:spTgt spid="31">
                                            <p:txEl>
                                              <p:pRg st="0" end="0"/>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2" presetClass="entr" presetSubtype="4" fill="hold" grpId="0" nodeType="clickEffect" nodePh="1">
                                  <p:stCondLst>
                                    <p:cond delay="0"/>
                                  </p:stCondLst>
                                  <p:endCondLst>
                                    <p:cond evt="begin" delay="0">
                                      <p:tn val="22"/>
                                    </p:cond>
                                  </p:endCondLst>
                                  <p:childTnLst>
                                    <p:set>
                                      <p:cBhvr>
                                        <p:cTn id="23" dur="1" fill="hold">
                                          <p:stCondLst>
                                            <p:cond delay="0"/>
                                          </p:stCondLst>
                                        </p:cTn>
                                        <p:tgtEl>
                                          <p:spTgt spid="20"/>
                                        </p:tgtEl>
                                        <p:attrNameLst>
                                          <p:attrName>style.visibility</p:attrName>
                                        </p:attrNameLst>
                                      </p:cBhvr>
                                      <p:to>
                                        <p:strVal val="visible"/>
                                      </p:to>
                                    </p:set>
                                    <p:anim calcmode="lin" valueType="num">
                                      <p:cBhvr additive="base">
                                        <p:cTn id="24" dur="500"/>
                                        <p:tgtEl>
                                          <p:spTgt spid="20"/>
                                        </p:tgtEl>
                                        <p:attrNameLst>
                                          <p:attrName>ppt_y</p:attrName>
                                        </p:attrNameLst>
                                      </p:cBhvr>
                                      <p:tavLst>
                                        <p:tav tm="0">
                                          <p:val>
                                            <p:strVal val="#ppt_y+#ppt_h*1.125000"/>
                                          </p:val>
                                        </p:tav>
                                        <p:tav tm="100000">
                                          <p:val>
                                            <p:strVal val="#ppt_y"/>
                                          </p:val>
                                        </p:tav>
                                      </p:tavLst>
                                    </p:anim>
                                    <p:animEffect transition="in" filter="wipe(up)">
                                      <p:cBhvr>
                                        <p:cTn id="25" dur="5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8" presetID="12" presetClass="entr" presetSubtype="4" fill="hold" grpId="0" nodeType="clickEffect" nodePh="1">
                                  <p:stCondLst>
                                    <p:cond delay="0"/>
                                  </p:stCondLst>
                                  <p:endCondLst>
                                    <p:cond evt="begin" delay="0">
                                      <p:tn val="28"/>
                                    </p:cond>
                                  </p:endCondLst>
                                  <p:childTnLst>
                                    <p:set>
                                      <p:cBhvr>
                                        <p:cTn id="29" dur="1" fill="hold">
                                          <p:stCondLst>
                                            <p:cond delay="0"/>
                                          </p:stCondLst>
                                        </p:cTn>
                                        <p:tgtEl>
                                          <p:spTgt spid="30"/>
                                        </p:tgtEl>
                                        <p:attrNameLst>
                                          <p:attrName>style.visibility</p:attrName>
                                        </p:attrNameLst>
                                      </p:cBhvr>
                                      <p:to>
                                        <p:strVal val="visible"/>
                                      </p:to>
                                    </p:set>
                                    <p:anim calcmode="lin" valueType="num">
                                      <p:cBhvr additive="base">
                                        <p:cTn id="30" dur="500"/>
                                        <p:tgtEl>
                                          <p:spTgt spid="30"/>
                                        </p:tgtEl>
                                        <p:attrNameLst>
                                          <p:attrName>ppt_y</p:attrName>
                                        </p:attrNameLst>
                                      </p:cBhvr>
                                      <p:tavLst>
                                        <p:tav tm="0">
                                          <p:val>
                                            <p:strVal val="#ppt_y+#ppt_h*1.125000"/>
                                          </p:val>
                                        </p:tav>
                                        <p:tav tm="100000">
                                          <p:val>
                                            <p:strVal val="#ppt_y"/>
                                          </p:val>
                                        </p:tav>
                                      </p:tavLst>
                                    </p:anim>
                                    <p:animEffect transition="in" filter="wipe(up)">
                                      <p:cBhvr>
                                        <p:cTn id="31" dur="500"/>
                                        <p:tgtEl>
                                          <p:spTgt spid="30"/>
                                        </p:tgtEl>
                                      </p:cBhvr>
                                    </p:animEffect>
                                  </p:childTnLst>
                                </p:cTn>
                              </p:par>
                            </p:childTnLst>
                          </p:cTn>
                        </p:par>
                      </p:childTnLst>
                    </p:cTn>
                  </p:par>
                  <p:par>
                    <p:cTn id="32" fill="hold">
                      <p:stCondLst>
                        <p:cond delay="indefinite"/>
                      </p:stCondLst>
                      <p:childTnLst>
                        <p:par>
                          <p:cTn id="33" fill="hold">
                            <p:stCondLst>
                              <p:cond delay="0"/>
                            </p:stCondLst>
                            <p:childTnLst>
                              <p:par>
                                <p:cTn id="34" presetID="12" presetClass="entr" presetSubtype="4" fill="hold" grpId="0" nodeType="clickEffect" nodePh="1">
                                  <p:stCondLst>
                                    <p:cond delay="0"/>
                                  </p:stCondLst>
                                  <p:endCondLst>
                                    <p:cond evt="begin" delay="0">
                                      <p:tn val="34"/>
                                    </p:cond>
                                  </p:endCondLst>
                                  <p:childTnLst>
                                    <p:set>
                                      <p:cBhvr>
                                        <p:cTn id="35" dur="1" fill="hold">
                                          <p:stCondLst>
                                            <p:cond delay="0"/>
                                          </p:stCondLst>
                                        </p:cTn>
                                        <p:tgtEl>
                                          <p:spTgt spid="23"/>
                                        </p:tgtEl>
                                        <p:attrNameLst>
                                          <p:attrName>style.visibility</p:attrName>
                                        </p:attrNameLst>
                                      </p:cBhvr>
                                      <p:to>
                                        <p:strVal val="visible"/>
                                      </p:to>
                                    </p:set>
                                    <p:anim calcmode="lin" valueType="num">
                                      <p:cBhvr additive="base">
                                        <p:cTn id="36" dur="500"/>
                                        <p:tgtEl>
                                          <p:spTgt spid="23"/>
                                        </p:tgtEl>
                                        <p:attrNameLst>
                                          <p:attrName>ppt_y</p:attrName>
                                        </p:attrNameLst>
                                      </p:cBhvr>
                                      <p:tavLst>
                                        <p:tav tm="0">
                                          <p:val>
                                            <p:strVal val="#ppt_y+#ppt_h*1.125000"/>
                                          </p:val>
                                        </p:tav>
                                        <p:tav tm="100000">
                                          <p:val>
                                            <p:strVal val="#ppt_y"/>
                                          </p:val>
                                        </p:tav>
                                      </p:tavLst>
                                    </p:anim>
                                    <p:animEffect transition="in" filter="wipe(up)">
                                      <p:cBhvr>
                                        <p:cTn id="37" dur="500"/>
                                        <p:tgtEl>
                                          <p:spTgt spid="23"/>
                                        </p:tgtEl>
                                      </p:cBhvr>
                                    </p:animEffect>
                                  </p:childTnLst>
                                </p:cTn>
                              </p:par>
                            </p:childTnLst>
                          </p:cTn>
                        </p:par>
                      </p:childTnLst>
                    </p:cTn>
                  </p:par>
                  <p:par>
                    <p:cTn id="38" fill="hold">
                      <p:stCondLst>
                        <p:cond delay="indefinite"/>
                      </p:stCondLst>
                      <p:childTnLst>
                        <p:par>
                          <p:cTn id="39" fill="hold">
                            <p:stCondLst>
                              <p:cond delay="0"/>
                            </p:stCondLst>
                            <p:childTnLst>
                              <p:par>
                                <p:cTn id="40" presetID="12" presetClass="entr" presetSubtype="4" fill="hold" grpId="0" nodeType="clickEffect">
                                  <p:stCondLst>
                                    <p:cond delay="0"/>
                                  </p:stCondLst>
                                  <p:childTnLst>
                                    <p:set>
                                      <p:cBhvr>
                                        <p:cTn id="41" dur="1" fill="hold">
                                          <p:stCondLst>
                                            <p:cond delay="0"/>
                                          </p:stCondLst>
                                        </p:cTn>
                                        <p:tgtEl>
                                          <p:spTgt spid="32"/>
                                        </p:tgtEl>
                                        <p:attrNameLst>
                                          <p:attrName>style.visibility</p:attrName>
                                        </p:attrNameLst>
                                      </p:cBhvr>
                                      <p:to>
                                        <p:strVal val="visible"/>
                                      </p:to>
                                    </p:set>
                                    <p:anim calcmode="lin" valueType="num">
                                      <p:cBhvr additive="base">
                                        <p:cTn id="42" dur="500"/>
                                        <p:tgtEl>
                                          <p:spTgt spid="32"/>
                                        </p:tgtEl>
                                        <p:attrNameLst>
                                          <p:attrName>ppt_y</p:attrName>
                                        </p:attrNameLst>
                                      </p:cBhvr>
                                      <p:tavLst>
                                        <p:tav tm="0">
                                          <p:val>
                                            <p:strVal val="#ppt_y+#ppt_h*1.125000"/>
                                          </p:val>
                                        </p:tav>
                                        <p:tav tm="100000">
                                          <p:val>
                                            <p:strVal val="#ppt_y"/>
                                          </p:val>
                                        </p:tav>
                                      </p:tavLst>
                                    </p:anim>
                                    <p:animEffect transition="in" filter="wipe(up)">
                                      <p:cBhvr>
                                        <p:cTn id="43"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654</TotalTime>
  <Words>323</Words>
  <Application>Microsoft Office PowerPoint</Application>
  <PresentationFormat>Widescreen</PresentationFormat>
  <Paragraphs>40</Paragraphs>
  <Slides>10</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Calibri</vt:lpstr>
      <vt:lpstr>Trebuchet MS</vt:lpstr>
      <vt:lpstr>Wingdings</vt:lpstr>
      <vt:lpstr>Wingdings 3</vt:lpstr>
      <vt:lpstr>Facet</vt:lpstr>
      <vt:lpstr>Healthcare Analytics for Doctor Visits TIRTC</vt:lpstr>
      <vt:lpstr>PROBLEM  STATEMENT</vt:lpstr>
      <vt:lpstr>Project Description</vt:lpstr>
      <vt:lpstr>WHO ARE THE END USERS?</vt:lpstr>
      <vt:lpstr>Technology Used</vt:lpstr>
      <vt:lpstr>RESULTS </vt:lpstr>
      <vt:lpstr>RESULTS </vt:lpstr>
      <vt:lpstr>RESULTS </vt:lpstr>
      <vt:lpstr>Github Link</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Shahina Naaz Khan</cp:lastModifiedBy>
  <cp:revision>81</cp:revision>
  <dcterms:created xsi:type="dcterms:W3CDTF">2021-07-11T13:13:15Z</dcterms:created>
  <dcterms:modified xsi:type="dcterms:W3CDTF">2026-10-07T13:24:57Z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